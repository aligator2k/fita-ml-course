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Spēles</c:v>
                </c:pt>
              </c:strCache>
            </c:strRef>
          </c:tx>
          <c:spPr>
            <a:solidFill>
              <a:srgbClr val="4A7FC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ED6-4665-845E-681A29217CC4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ED6-4665-845E-681A29217CC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lv-LV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Zems (&lt; 4.0)</c:v>
                </c:pt>
                <c:pt idx="1">
                  <c:v>Augsts (≥ 4.0)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6271</c:v>
                </c:pt>
                <c:pt idx="1">
                  <c:v>2226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ED6-4665-845E-681A29217C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F1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211-4A69-9492-5A3C01AB3E76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211-4A69-9492-5A3C01AB3E76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211-4A69-9492-5A3C01AB3E76}"/>
              </c:ext>
            </c:extLst>
          </c:dPt>
          <c:dPt>
            <c:idx val="3"/>
            <c:invertIfNegative val="0"/>
            <c:bubble3D val="0"/>
            <c:spPr>
              <a:solidFill>
                <a:srgbClr val="2DD4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211-4A69-9492-5A3C01AB3E7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lv-LV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LR (bāze)</c:v>
                </c:pt>
                <c:pt idx="1">
                  <c:v>RF</c:v>
                </c:pt>
                <c:pt idx="2">
                  <c:v>GB</c:v>
                </c:pt>
                <c:pt idx="3">
                  <c:v>RF+Grid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0.60909999999999997</c:v>
                </c:pt>
                <c:pt idx="1">
                  <c:v>0.66359999999999997</c:v>
                </c:pt>
                <c:pt idx="2">
                  <c:v>0.66400000000000003</c:v>
                </c:pt>
                <c:pt idx="3">
                  <c:v>0.6694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211-4A69-9492-5A3C01AB3E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0.55000000000000004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DD4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1CF-4D4C-9513-C87F69C09B80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1CF-4D4C-9513-C87F69C09B80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1CF-4D4C-9513-C87F69C09B80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1CF-4D4C-9513-C87F69C09B80}"/>
              </c:ext>
            </c:extLst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1CF-4D4C-9513-C87F69C09B80}"/>
              </c:ext>
            </c:extLst>
          </c:dPt>
          <c:dPt>
            <c:idx val="5"/>
            <c:invertIfNegative val="0"/>
            <c:bubble3D val="0"/>
            <c:spPr>
              <a:solidFill>
                <a:srgbClr val="4A90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1CF-4D4C-9513-C87F69C09B80}"/>
              </c:ext>
            </c:extLst>
          </c:dPt>
          <c:dPt>
            <c:idx val="6"/>
            <c:invertIfNegative val="0"/>
            <c:bubble3D val="0"/>
            <c:spPr>
              <a:solidFill>
                <a:srgbClr val="4A90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1CF-4D4C-9513-C87F69C09B80}"/>
              </c:ext>
            </c:extLst>
          </c:dPt>
          <c:dPt>
            <c:idx val="7"/>
            <c:invertIfNegative val="0"/>
            <c:bubble3D val="0"/>
            <c:spPr>
              <a:solidFill>
                <a:srgbClr val="4A90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1CF-4D4C-9513-C87F69C09B80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lv-LV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completion_rate</c:v>
                </c:pt>
                <c:pt idx="1">
                  <c:v>added_owned</c:v>
                </c:pt>
                <c:pt idx="2">
                  <c:v>release_year</c:v>
                </c:pt>
                <c:pt idx="3">
                  <c:v>added_beaten</c:v>
                </c:pt>
                <c:pt idx="4">
                  <c:v>added_toplay</c:v>
                </c:pt>
                <c:pt idx="5">
                  <c:v>suggestions</c:v>
                </c:pt>
                <c:pt idx="6">
                  <c:v>added_dropped</c:v>
                </c:pt>
                <c:pt idx="7">
                  <c:v>total_added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0.19409999999999999</c:v>
                </c:pt>
                <c:pt idx="1">
                  <c:v>8.6900000000000005E-2</c:v>
                </c:pt>
                <c:pt idx="2">
                  <c:v>8.5699999999999998E-2</c:v>
                </c:pt>
                <c:pt idx="3">
                  <c:v>8.0600000000000005E-2</c:v>
                </c:pt>
                <c:pt idx="4">
                  <c:v>6.7299999999999999E-2</c:v>
                </c:pt>
                <c:pt idx="5">
                  <c:v>6.1499999999999999E-2</c:v>
                </c:pt>
                <c:pt idx="6">
                  <c:v>6.1199999999999997E-2</c:v>
                </c:pt>
                <c:pt idx="7">
                  <c:v>6.08E-2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1CF-4D4C-9513-C87F69C09B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844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2DD4BF"/>
                </a:solidFill>
              </a:rPr>
              <a:t>FITA ML KURSS · 4. NEDĒĻA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Spēļu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Vērtējuma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Prognozēšana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</a:rPr>
              <a:t>Random Forest klasifikācija · RAWG datubāze · 474K+ spēles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914400"/>
            <a:ext cx="24688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7" name="Text 5"/>
          <p:cNvSpPr/>
          <p:nvPr/>
        </p:nvSpPr>
        <p:spPr>
          <a:xfrm>
            <a:off x="6400800" y="1005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D4BF"/>
                </a:solidFill>
              </a:rPr>
              <a:t>8 497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Analizētas spēles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2286000"/>
            <a:ext cx="24688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0" name="Text 8"/>
          <p:cNvSpPr/>
          <p:nvPr/>
        </p:nvSpPr>
        <p:spPr>
          <a:xfrm>
            <a:off x="6400800" y="2377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D4BF"/>
                </a:solidFill>
              </a:rPr>
              <a:t>84%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0" y="2926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Modeļa precizitāte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3657600"/>
            <a:ext cx="24688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3" name="Text 11"/>
          <p:cNvSpPr/>
          <p:nvPr/>
        </p:nvSpPr>
        <p:spPr>
          <a:xfrm>
            <a:off x="6400800" y="3749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D4BF"/>
                </a:solidFill>
              </a:rPr>
              <a:t>0.669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0" y="4297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CV F1 Score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V</a:t>
            </a:r>
            <a:r>
              <a:rPr lang="lv-LV" sz="1100" dirty="0">
                <a:solidFill>
                  <a:srgbClr val="94A3B8"/>
                </a:solidFill>
              </a:rPr>
              <a:t>ladimirs Orlovs</a:t>
            </a:r>
            <a:r>
              <a:rPr lang="en-US" sz="1100" dirty="0">
                <a:solidFill>
                  <a:srgbClr val="94A3B8"/>
                </a:solidFill>
              </a:rPr>
              <a:t>  ·  202</a:t>
            </a:r>
            <a:r>
              <a:rPr lang="lv-LV" sz="1100" dirty="0">
                <a:solidFill>
                  <a:srgbClr val="94A3B8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Problēma un Dati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</a:rPr>
              <a:t>Biznesa jautājums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</a:rPr>
              <a:t>Vai spēle saņems augstu vērtējumu (≥ 4.0)?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</a:rPr>
              <a:t>Spēļu izdevēji var prognozēt panākumus pirms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</a:rPr>
              <a:t>izdošanas, balstoties uz žanru, platformu un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</a:rPr>
              <a:t>spēlētāju uzvedības datiem.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</a:rPr>
              <a:t>Dataseta avots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RAWG Video Game Dataset (Kaggle)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474 417 spēles → 8 497 pēc filtrēšanas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27 sākotnējās kolonnas → 17 features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Target: rating ≥ 4.0 (Jā/Nē)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</a:rPr>
              <a:t>Target sadalījums</a:t>
            </a:r>
            <a:endParaRPr lang="en-US" sz="13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846320" y="1417320"/>
          <a:ext cx="39319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4846320" y="3749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73.8% Zems  ·  26.2% Augsts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Pieeja: ML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4630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Filtrēšana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56232"/>
            <a:ext cx="914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ratings_count &gt; 10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474K → 8 497 spēles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83664" y="1600200"/>
            <a:ext cx="20116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1" name="Shape 9"/>
          <p:cNvSpPr/>
          <p:nvPr/>
        </p:nvSpPr>
        <p:spPr>
          <a:xfrm>
            <a:off x="2084832" y="1005840"/>
            <a:ext cx="14630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2" name="Text 10"/>
          <p:cNvSpPr/>
          <p:nvPr/>
        </p:nvSpPr>
        <p:spPr>
          <a:xfrm>
            <a:off x="2084832" y="1051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84832" y="1417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Trīrīšana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59152" y="1856232"/>
            <a:ext cx="914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5" name="Text 13"/>
          <p:cNvSpPr/>
          <p:nvPr/>
        </p:nvSpPr>
        <p:spPr>
          <a:xfrm>
            <a:off x="2130552" y="196596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Izmet kolonnas &gt;70% tukšas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(metacritic, esrb, website...)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02736" y="1600200"/>
            <a:ext cx="20116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7" name="Shape 15"/>
          <p:cNvSpPr/>
          <p:nvPr/>
        </p:nvSpPr>
        <p:spPr>
          <a:xfrm>
            <a:off x="3803904" y="1005840"/>
            <a:ext cx="14630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8" name="Text 16"/>
          <p:cNvSpPr/>
          <p:nvPr/>
        </p:nvSpPr>
        <p:spPr>
          <a:xfrm>
            <a:off x="3803904" y="1051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03904" y="1417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 Eng.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078224" y="1856232"/>
            <a:ext cx="914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21" name="Text 19"/>
          <p:cNvSpPr/>
          <p:nvPr/>
        </p:nvSpPr>
        <p:spPr>
          <a:xfrm>
            <a:off x="3849624" y="196596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completion_rate, total_added,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release_year, primary_genre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21808" y="1600200"/>
            <a:ext cx="20116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23" name="Shape 21"/>
          <p:cNvSpPr/>
          <p:nvPr/>
        </p:nvSpPr>
        <p:spPr>
          <a:xfrm>
            <a:off x="5522976" y="1005840"/>
            <a:ext cx="14630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24" name="Text 22"/>
          <p:cNvSpPr/>
          <p:nvPr/>
        </p:nvSpPr>
        <p:spPr>
          <a:xfrm>
            <a:off x="5522976" y="1051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22976" y="1417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Kodēšana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97296" y="1856232"/>
            <a:ext cx="914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27" name="Text 25"/>
          <p:cNvSpPr/>
          <p:nvPr/>
        </p:nvSpPr>
        <p:spPr>
          <a:xfrm>
            <a:off x="5568696" y="196596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One-Hot: žanrs, platforma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StandardScaler: skaitļi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40880" y="1600200"/>
            <a:ext cx="20116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29" name="Shape 27"/>
          <p:cNvSpPr/>
          <p:nvPr/>
        </p:nvSpPr>
        <p:spPr>
          <a:xfrm>
            <a:off x="7242048" y="1005840"/>
            <a:ext cx="14630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0" name="Text 28"/>
          <p:cNvSpPr/>
          <p:nvPr/>
        </p:nvSpPr>
        <p:spPr>
          <a:xfrm>
            <a:off x="7242048" y="1051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42048" y="1417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Modelis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516368" y="1856232"/>
            <a:ext cx="914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3" name="Text 31"/>
          <p:cNvSpPr/>
          <p:nvPr/>
        </p:nvSpPr>
        <p:spPr>
          <a:xfrm>
            <a:off x="7287768" y="196596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RandomForest + GridSearchCV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cv=5, scoring='f1'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</a:rPr>
              <a:t>✦  Galvenā jaunā iezīme: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completion_rate = beaten / (total_added + 1)  →  vērtīgākā prognozēšanas pazīme (importance: 0.194)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Modeļu Salīdzinājums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21945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Modelis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CV F1 (vidējais)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CV F1 (std)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Piezīmes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Logistic Regression (bāze)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0.6091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±0.0282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Sākotnējais rezultāts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0.6636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±0.0205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Stabils, ātrs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Gradient Boosting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0.6640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±0.0324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Līdzīgs RF, lēnāks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</a:rPr>
                        <a:t>Random Forest (GridSearchCV)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</a:rPr>
                        <a:t>0.6694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</a:rPr>
                        <a:t>✦ Labākais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91840"/>
            <a:ext cx="38404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7" name="Text 4"/>
          <p:cNvSpPr/>
          <p:nvPr/>
        </p:nvSpPr>
        <p:spPr>
          <a:xfrm>
            <a:off x="45720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Uzlabojums vs. bāzes modelis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703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+0.0603 F1  (+9.9%)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4160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GridSearchCV: max_depth=20, n_estimators=200</a:t>
            </a:r>
            <a:endParaRPr lang="en-US" sz="10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572000" y="3200400"/>
          <a:ext cx="429768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Rezultāti un Interpretācija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9659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84%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1428/1700 pareizi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960120"/>
            <a:ext cx="19659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0" name="Text 8"/>
          <p:cNvSpPr/>
          <p:nvPr/>
        </p:nvSpPr>
        <p:spPr>
          <a:xfrm>
            <a:off x="2514600" y="1005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0.89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1600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F1 (Zems)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8745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Precision 0.88 / Recall 0.91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19659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4" name="Text 12"/>
          <p:cNvSpPr/>
          <p:nvPr/>
        </p:nvSpPr>
        <p:spPr>
          <a:xfrm>
            <a:off x="4663440" y="1005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0.68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63440" y="1600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F1 (Augsts)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8745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Precision 0.71 / Recall 0.65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960120"/>
            <a:ext cx="19659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8" name="Text 16"/>
          <p:cNvSpPr/>
          <p:nvPr/>
        </p:nvSpPr>
        <p:spPr>
          <a:xfrm>
            <a:off x="6812280" y="1005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</a:rPr>
              <a:t>0.669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12280" y="1600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CV F1 (GridCV)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12280" y="18745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Cross-val, cv=5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286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</a:rPr>
              <a:t>Top 8 svarīgākās iezīmes</a:t>
            </a:r>
            <a:endParaRPr lang="en-US" sz="12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457200" y="2606040"/>
          <a:ext cx="4206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502920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</a:rPr>
              <a:t>Confusion Matrix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633472"/>
          <a:ext cx="3749040" cy="16459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Prognozēts: Zems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Prognozēts: Augsts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Īstais: Zems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D4BF"/>
                          </a:solidFill>
                        </a:rPr>
                        <a:t>1140 ✓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C8181"/>
                          </a:solidFill>
                        </a:rPr>
                        <a:t>115 ✗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Īstais: Augsts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C8181"/>
                          </a:solidFill>
                        </a:rPr>
                        <a:t>157 ✗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5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D4BF"/>
                          </a:solidFill>
                        </a:rPr>
                        <a:t>288 ✓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5029200" y="43434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Modelis labi identificē 'Zems' (recall 91%), bet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'Augsts' ir grūtāk prognozēt (recall 65%) — sagaidāmi.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Secinājumi un Nākamie Soļi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2062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6" name="Text 4"/>
          <p:cNvSpPr/>
          <p:nvPr/>
        </p:nvSpPr>
        <p:spPr>
          <a:xfrm>
            <a:off x="594360" y="1078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</a:rPr>
              <a:t>✦  completion_rate dominē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Mūsu izveidotā iezīme ir #1 prognozētājs (importance 0.194). Feature engineering atmaksājas.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42062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9" name="Text 7"/>
          <p:cNvSpPr/>
          <p:nvPr/>
        </p:nvSpPr>
        <p:spPr>
          <a:xfrm>
            <a:off x="594360" y="2313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</a:rPr>
              <a:t>✦  Spēlētāju uzvedība &gt; Žanrs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6517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Platforma un žanrs nav top iezīmēs — svarīgāk, KĀ cilvēki spēlē, nevis KO.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42062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2" name="Text 10"/>
          <p:cNvSpPr/>
          <p:nvPr/>
        </p:nvSpPr>
        <p:spPr>
          <a:xfrm>
            <a:off x="594360" y="3547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</a:rPr>
              <a:t>✦  Biznesa vērtība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8862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71% precision: 7 no 10 modeļa 'Augsts' prognozēm ir pareizas — lietojams kā pirmais filtrs.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</a:rPr>
              <a:t>Nākamie soļi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3716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XGBoost / LightGBM — bieži pārspēj RF uz tabulāriem datiem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SMOTE — uzlabot 'Augsts' klases recall (pašlaik 65%)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Izdevēja vidējais vērtējums kā jauna iezīme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Žanru kombināciju analīze (pašlaik tikai pirmais žanrs)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Vairāk datu — spēles ar ratings_count &gt; 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7" name="Text 15"/>
          <p:cNvSpPr/>
          <p:nvPr/>
        </p:nvSpPr>
        <p:spPr>
          <a:xfrm>
            <a:off x="457200" y="44622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</a:rPr>
              <a:t>Random Forest + GridSearchCV  ·  CV F1 = 0.669  ·  Accuracy = 84%  ·  completion_rate ir #1 iezīme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Paldies!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2DD4BF"/>
                </a:solidFill>
              </a:rPr>
              <a:t>Jautājumi?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338328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6" name="Text 4"/>
          <p:cNvSpPr/>
          <p:nvPr/>
        </p:nvSpPr>
        <p:spPr>
          <a:xfrm>
            <a:off x="914400" y="34015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RAWG Dataset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42032" y="338328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8" name="Text 6"/>
          <p:cNvSpPr/>
          <p:nvPr/>
        </p:nvSpPr>
        <p:spPr>
          <a:xfrm>
            <a:off x="2542032" y="34015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69664" y="338328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0" name="Text 8"/>
          <p:cNvSpPr/>
          <p:nvPr/>
        </p:nvSpPr>
        <p:spPr>
          <a:xfrm>
            <a:off x="4169664" y="34015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CV F1 = 0.669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97296" y="338328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2" name="Text 10"/>
          <p:cNvSpPr/>
          <p:nvPr/>
        </p:nvSpPr>
        <p:spPr>
          <a:xfrm>
            <a:off x="5797296" y="34015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Accuracy = 84%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24928" y="338328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4" name="Text 12"/>
          <p:cNvSpPr/>
          <p:nvPr/>
        </p:nvSpPr>
        <p:spPr>
          <a:xfrm>
            <a:off x="7424928" y="34015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8 497 spēles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V</a:t>
            </a:r>
            <a:r>
              <a:rPr lang="lv-LV" sz="1100" dirty="0">
                <a:solidFill>
                  <a:srgbClr val="94A3B8"/>
                </a:solidFill>
              </a:rPr>
              <a:t>ladimirs Orlovs</a:t>
            </a:r>
            <a:r>
              <a:rPr lang="en-US" sz="1100" dirty="0">
                <a:solidFill>
                  <a:srgbClr val="94A3B8"/>
                </a:solidFill>
              </a:rPr>
              <a:t>  ·  FITA ML Kurss  ·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551</Words>
  <Application>Microsoft Office PowerPoint</Application>
  <PresentationFormat>On-screen Show (16:9)</PresentationFormat>
  <Paragraphs>132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RAWG Video Game Rating Prediction</dc:title>
  <dc:subject>PptxGenJS Presentation</dc:subject>
  <dc:creator>PptxGenJS</dc:creator>
  <cp:lastModifiedBy>Vladimirs Orlovs</cp:lastModifiedBy>
  <cp:revision>2</cp:revision>
  <dcterms:created xsi:type="dcterms:W3CDTF">2026-04-24T21:53:51Z</dcterms:created>
  <dcterms:modified xsi:type="dcterms:W3CDTF">2026-04-24T22:07:16Z</dcterms:modified>
</cp:coreProperties>
</file>